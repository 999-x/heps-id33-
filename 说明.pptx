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登录以及找到对应目录" id="{57E9C94C-5D21-4518-A9F5-8D098216E65B}">
          <p14:sldIdLst>
            <p14:sldId id="256"/>
          </p14:sldIdLst>
        </p14:section>
        <p14:section name="多毛细管透镜模拟" id="{EDCB561E-A16A-406A-972C-2E82B8C55A68}">
          <p14:sldIdLst>
            <p14:sldId id="257"/>
          </p14:sldIdLst>
        </p14:section>
        <p14:section name="3×5阵列analyzers的off-Rowland谱仪模拟" id="{52C01285-1131-4D98-9BAD-3AFD7E1487B8}">
          <p14:sldIdLst>
            <p14:sldId id="258"/>
          </p14:sldIdLst>
        </p14:section>
        <p14:section name="polycapillary+阵列analyzers的off-Rowland" id="{04BCFEA7-A51D-446C-890F-62116284EDCE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47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39F026-BE45-7B3D-623F-4F9EAD3AC11C}"/>
              </a:ext>
            </a:extLst>
          </p:cNvPr>
          <p:cNvSpPr txBox="1"/>
          <p:nvPr/>
        </p:nvSpPr>
        <p:spPr>
          <a:xfrm>
            <a:off x="0" y="179293"/>
            <a:ext cx="4993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首先，登录</a:t>
            </a:r>
            <a:r>
              <a:rPr lang="en-US" altLang="zh-CN" b="1" dirty="0"/>
              <a:t>HEPS</a:t>
            </a:r>
            <a:r>
              <a:rPr lang="zh-CN" altLang="en-US" b="1" dirty="0"/>
              <a:t>计算分析服务平台</a:t>
            </a:r>
            <a:r>
              <a:rPr lang="en-US" altLang="zh-CN" b="1" dirty="0"/>
              <a:t>https://torch.heps.ihep.ac.cn/</a:t>
            </a:r>
            <a:r>
              <a:rPr lang="zh-CN" altLang="en-US" b="1" dirty="0"/>
              <a:t> </a:t>
            </a:r>
            <a:r>
              <a:rPr lang="zh-CN" altLang="en-US" dirty="0"/>
              <a:t>，选择并申请如下的离线计算服务：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BCDD24-6857-1119-4573-024A1ADE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39" t="12945" r="33501" b="30591"/>
          <a:stretch>
            <a:fillRect/>
          </a:stretch>
        </p:blipFill>
        <p:spPr>
          <a:xfrm>
            <a:off x="2700459" y="1547394"/>
            <a:ext cx="2483225" cy="19976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C7D747F-CE76-1982-63A8-C07FE85F1A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986"/>
          <a:stretch>
            <a:fillRect/>
          </a:stretch>
        </p:blipFill>
        <p:spPr>
          <a:xfrm>
            <a:off x="0" y="5093752"/>
            <a:ext cx="4491318" cy="166462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7AC4125-00D8-DF18-E377-EEEE1424E16E}"/>
              </a:ext>
            </a:extLst>
          </p:cNvPr>
          <p:cNvSpPr txBox="1"/>
          <p:nvPr/>
        </p:nvSpPr>
        <p:spPr>
          <a:xfrm>
            <a:off x="0" y="4311766"/>
            <a:ext cx="4491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先后点击①和②，分别打开两个页面进入</a:t>
            </a:r>
            <a:r>
              <a:rPr lang="en-US" altLang="zh-CN" dirty="0" err="1"/>
              <a:t>jupyterlab</a:t>
            </a:r>
            <a:r>
              <a:rPr lang="zh-CN" altLang="en-US" dirty="0"/>
              <a:t>和</a:t>
            </a:r>
            <a:r>
              <a:rPr lang="en-US" altLang="zh-CN" dirty="0"/>
              <a:t>desktop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70E067-9BAC-8278-C4A1-6CE2A5007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357" y="1318080"/>
            <a:ext cx="1727789" cy="485484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24F9110-CF6F-791A-C58D-C990548E742B}"/>
              </a:ext>
            </a:extLst>
          </p:cNvPr>
          <p:cNvSpPr txBox="1"/>
          <p:nvPr/>
        </p:nvSpPr>
        <p:spPr>
          <a:xfrm>
            <a:off x="6096000" y="179293"/>
            <a:ext cx="5432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进入</a:t>
            </a:r>
            <a:r>
              <a:rPr lang="en-US" altLang="zh-CN" dirty="0" err="1"/>
              <a:t>jupyterlab</a:t>
            </a:r>
            <a:r>
              <a:rPr lang="zh-CN" altLang="en-US" dirty="0"/>
              <a:t>界面后，在文件夹中，依次选择</a:t>
            </a:r>
            <a:endParaRPr lang="en-US" altLang="zh-CN" dirty="0"/>
          </a:p>
          <a:p>
            <a:r>
              <a:rPr lang="en-US" altLang="zh-CN" dirty="0" err="1"/>
              <a:t>heps</a:t>
            </a:r>
            <a:r>
              <a:rPr lang="zh-CN" altLang="en-US" dirty="0"/>
              <a:t>→</a:t>
            </a:r>
            <a:r>
              <a:rPr lang="en-US" altLang="zh-CN" dirty="0"/>
              <a:t>beamline</a:t>
            </a:r>
            <a:r>
              <a:rPr lang="zh-CN" altLang="en-US" dirty="0"/>
              <a:t>→</a:t>
            </a:r>
            <a:r>
              <a:rPr lang="en-US" altLang="zh-CN" dirty="0"/>
              <a:t>ID33</a:t>
            </a:r>
            <a:r>
              <a:rPr lang="zh-CN" altLang="en-US" dirty="0"/>
              <a:t>→</a:t>
            </a:r>
            <a:r>
              <a:rPr lang="en-US" altLang="zh-CN" dirty="0"/>
              <a:t>public</a:t>
            </a:r>
            <a:r>
              <a:rPr lang="zh-CN" altLang="en-US" dirty="0"/>
              <a:t>→</a:t>
            </a:r>
            <a:r>
              <a:rPr lang="en-US" altLang="zh-CN" dirty="0"/>
              <a:t>xrt-1.6.1</a:t>
            </a:r>
            <a:r>
              <a:rPr lang="zh-CN" altLang="en-US" dirty="0"/>
              <a:t>→</a:t>
            </a:r>
            <a:r>
              <a:rPr lang="en-US" altLang="zh-CN" dirty="0"/>
              <a:t>examples</a:t>
            </a:r>
            <a:r>
              <a:rPr lang="zh-CN" altLang="en-US" dirty="0"/>
              <a:t>→</a:t>
            </a:r>
            <a:endParaRPr lang="en-US" altLang="zh-CN" dirty="0"/>
          </a:p>
          <a:p>
            <a:r>
              <a:rPr lang="en-US" altLang="zh-CN" dirty="0" err="1"/>
              <a:t>withRaycing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F20687A-99E8-4A80-4CBE-CD7DEF33AFF3}"/>
              </a:ext>
            </a:extLst>
          </p:cNvPr>
          <p:cNvPicPr>
            <a:picLocks/>
          </p:cNvPicPr>
          <p:nvPr/>
        </p:nvPicPr>
        <p:blipFill>
          <a:blip r:embed="rId5"/>
          <a:srcRect l="5943" t="2017" r="56528" b="32429"/>
          <a:stretch>
            <a:fillRect/>
          </a:stretch>
        </p:blipFill>
        <p:spPr>
          <a:xfrm>
            <a:off x="0" y="1139899"/>
            <a:ext cx="2619777" cy="28126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961FC1A-8B0E-CEA5-7B58-10435D7E9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3257" y="1318080"/>
            <a:ext cx="1893853" cy="4717031"/>
          </a:xfrm>
          <a:prstGeom prst="rect">
            <a:avLst/>
          </a:prstGeom>
        </p:spPr>
      </p:pic>
      <p:sp>
        <p:nvSpPr>
          <p:cNvPr id="17" name="箭头: 右 16">
            <a:extLst>
              <a:ext uri="{FF2B5EF4-FFF2-40B4-BE49-F238E27FC236}">
                <a16:creationId xmlns:a16="http://schemas.microsoft.com/office/drawing/2014/main" id="{DA58C024-5D17-6A60-211E-7FE0854FBD7C}"/>
              </a:ext>
            </a:extLst>
          </p:cNvPr>
          <p:cNvSpPr/>
          <p:nvPr/>
        </p:nvSpPr>
        <p:spPr>
          <a:xfrm>
            <a:off x="8326178" y="3412136"/>
            <a:ext cx="1004047" cy="5289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994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A119280-3D92-D3C5-5083-F48EFCE4D4C2}"/>
              </a:ext>
            </a:extLst>
          </p:cNvPr>
          <p:cNvSpPr txBox="1"/>
          <p:nvPr/>
        </p:nvSpPr>
        <p:spPr>
          <a:xfrm>
            <a:off x="1" y="0"/>
            <a:ext cx="11806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在</a:t>
            </a:r>
            <a:r>
              <a:rPr lang="en-US" altLang="zh-CN" dirty="0" err="1"/>
              <a:t>withRaycing</a:t>
            </a:r>
            <a:r>
              <a:rPr lang="zh-CN" altLang="en-US" dirty="0"/>
              <a:t>中选择</a:t>
            </a:r>
            <a:r>
              <a:rPr lang="en-US" altLang="zh-CN" dirty="0"/>
              <a:t>polycapillary</a:t>
            </a:r>
            <a:r>
              <a:rPr lang="zh-CN" altLang="en-US" dirty="0"/>
              <a:t>文件夹，双击该文件中的</a:t>
            </a:r>
            <a:r>
              <a:rPr lang="en-US" altLang="zh-CN" dirty="0"/>
              <a:t>polycapillaries.py</a:t>
            </a:r>
            <a:r>
              <a:rPr lang="zh-CN" altLang="en-US" dirty="0"/>
              <a:t>文件，即可根据代码中的注解进行相应的修改，修改完毕后，</a:t>
            </a:r>
            <a:r>
              <a:rPr lang="en-US" altLang="zh-CN" dirty="0" err="1"/>
              <a:t>Ctrl+S</a:t>
            </a:r>
            <a:r>
              <a:rPr lang="zh-CN" altLang="en-US" dirty="0"/>
              <a:t>进行保存。后续的运行需要在</a:t>
            </a:r>
            <a:r>
              <a:rPr lang="en-US" altLang="zh-CN" dirty="0"/>
              <a:t>desktop</a:t>
            </a:r>
            <a:r>
              <a:rPr lang="zh-CN" altLang="en-US" dirty="0"/>
              <a:t>中进行。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075657-3414-F505-A8F1-1D837BAC0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32" y="2036879"/>
            <a:ext cx="3371429" cy="15714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33722B6-1823-FB28-01BC-04841D191CD0}"/>
              </a:ext>
            </a:extLst>
          </p:cNvPr>
          <p:cNvSpPr txBox="1"/>
          <p:nvPr/>
        </p:nvSpPr>
        <p:spPr>
          <a:xfrm>
            <a:off x="0" y="78018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在</a:t>
            </a:r>
            <a:r>
              <a:rPr lang="en-US" altLang="zh-CN" dirty="0"/>
              <a:t>desktop</a:t>
            </a:r>
            <a:r>
              <a:rPr lang="zh-CN" altLang="en-US" dirty="0"/>
              <a:t>中，单击界面正下方的这一图标，进入控制界面后，依次输入</a:t>
            </a:r>
            <a:r>
              <a:rPr lang="en-US" altLang="zh-CN" dirty="0"/>
              <a:t>cd</a:t>
            </a:r>
            <a:r>
              <a:rPr lang="zh-CN" altLang="en-US" dirty="0"/>
              <a:t>、空格、</a:t>
            </a:r>
            <a:r>
              <a:rPr lang="en-US" altLang="zh-CN" dirty="0"/>
              <a:t>/</a:t>
            </a:r>
            <a:r>
              <a:rPr lang="en-US" altLang="zh-CN" dirty="0" err="1"/>
              <a:t>heps</a:t>
            </a:r>
            <a:r>
              <a:rPr lang="en-US" altLang="zh-CN" dirty="0"/>
              <a:t>/beamline/ID33/public</a:t>
            </a:r>
          </a:p>
          <a:p>
            <a:r>
              <a:rPr lang="en-US" altLang="zh-CN" dirty="0"/>
              <a:t>/xrt-1.6.1/examples/</a:t>
            </a:r>
            <a:r>
              <a:rPr lang="en-US" altLang="zh-CN" dirty="0" err="1"/>
              <a:t>withRaycing</a:t>
            </a:r>
            <a:r>
              <a:rPr lang="en-US" altLang="zh-CN" dirty="0"/>
              <a:t>/polycapillary/</a:t>
            </a:r>
            <a:r>
              <a:rPr lang="zh-CN" altLang="en-US" dirty="0"/>
              <a:t>，然后回车。输入</a:t>
            </a:r>
            <a:r>
              <a:rPr lang="en-US" altLang="zh-CN" dirty="0"/>
              <a:t>ls</a:t>
            </a:r>
            <a:r>
              <a:rPr lang="zh-CN" altLang="en-US" dirty="0"/>
              <a:t>，继续回车，即可显示该文件夹中的各类文件。</a:t>
            </a:r>
            <a:endParaRPr lang="en-US" altLang="zh-CN" dirty="0"/>
          </a:p>
          <a:p>
            <a:r>
              <a:rPr lang="zh-CN" altLang="en-US" dirty="0"/>
              <a:t>然后输入</a:t>
            </a:r>
            <a:r>
              <a:rPr lang="en-US" altLang="zh-CN" dirty="0"/>
              <a:t>python</a:t>
            </a:r>
            <a:r>
              <a:rPr lang="zh-CN" altLang="en-US" dirty="0"/>
              <a:t>、空格、</a:t>
            </a:r>
            <a:r>
              <a:rPr lang="en-US" altLang="zh-CN" dirty="0"/>
              <a:t>polycapliiaries.py</a:t>
            </a:r>
            <a:r>
              <a:rPr lang="zh-CN" altLang="en-US" dirty="0"/>
              <a:t>，回车运行该代码即可。（拼写文件名称时，可用“</a:t>
            </a:r>
            <a:r>
              <a:rPr lang="en-US" altLang="zh-CN" dirty="0"/>
              <a:t>Tab</a:t>
            </a:r>
            <a:r>
              <a:rPr lang="zh-CN" altLang="en-US" dirty="0"/>
              <a:t>”自动补全）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8848D38-20CC-01A6-F0B0-A24403E6D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043" y="2036879"/>
            <a:ext cx="5859957" cy="3652960"/>
          </a:xfrm>
          <a:prstGeom prst="rect">
            <a:avLst/>
          </a:prstGeom>
        </p:spPr>
      </p:pic>
      <p:sp>
        <p:nvSpPr>
          <p:cNvPr id="10" name="箭头: 下 9">
            <a:extLst>
              <a:ext uri="{FF2B5EF4-FFF2-40B4-BE49-F238E27FC236}">
                <a16:creationId xmlns:a16="http://schemas.microsoft.com/office/drawing/2014/main" id="{9F4D2EA0-45E3-F420-B570-F06D88368839}"/>
              </a:ext>
            </a:extLst>
          </p:cNvPr>
          <p:cNvSpPr/>
          <p:nvPr/>
        </p:nvSpPr>
        <p:spPr>
          <a:xfrm rot="5400000">
            <a:off x="5832874" y="5034391"/>
            <a:ext cx="511843" cy="4576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649C706-12EC-F362-4DA3-A925CAF5D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546659"/>
            <a:ext cx="5859957" cy="1433141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4DC67152-D2D3-C871-1342-83083CAF02EF}"/>
              </a:ext>
            </a:extLst>
          </p:cNvPr>
          <p:cNvSpPr/>
          <p:nvPr/>
        </p:nvSpPr>
        <p:spPr>
          <a:xfrm>
            <a:off x="4982817" y="2723398"/>
            <a:ext cx="1353671" cy="4213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DED117-7856-624E-2A04-7E6D79055173}"/>
              </a:ext>
            </a:extLst>
          </p:cNvPr>
          <p:cNvSpPr txBox="1"/>
          <p:nvPr/>
        </p:nvSpPr>
        <p:spPr>
          <a:xfrm>
            <a:off x="0" y="375700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做修改前，复制留存原始文件进行备份</a:t>
            </a:r>
          </a:p>
        </p:txBody>
      </p:sp>
    </p:spTree>
    <p:extLst>
      <p:ext uri="{BB962C8B-B14F-4D97-AF65-F5344CB8AC3E}">
        <p14:creationId xmlns:p14="http://schemas.microsoft.com/office/powerpoint/2010/main" val="2908668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27C5DCC-2AE3-707C-E4FD-D6FBB644A01D}"/>
              </a:ext>
            </a:extLst>
          </p:cNvPr>
          <p:cNvSpPr txBox="1"/>
          <p:nvPr/>
        </p:nvSpPr>
        <p:spPr>
          <a:xfrm>
            <a:off x="1" y="0"/>
            <a:ext cx="11806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在</a:t>
            </a:r>
            <a:r>
              <a:rPr lang="en-US" altLang="zh-CN" dirty="0" err="1"/>
              <a:t>withRaycing</a:t>
            </a:r>
            <a:r>
              <a:rPr lang="zh-CN" altLang="en-US" dirty="0"/>
              <a:t>中选择</a:t>
            </a:r>
            <a:r>
              <a:rPr lang="en-US" altLang="zh-CN" dirty="0" err="1"/>
              <a:t>array_of_analyzers</a:t>
            </a:r>
            <a:r>
              <a:rPr lang="zh-CN" altLang="en-US" dirty="0"/>
              <a:t>文件夹，再选择</a:t>
            </a:r>
            <a:r>
              <a:rPr lang="en-US" altLang="zh-CN" dirty="0"/>
              <a:t>off-Rowland3×5</a:t>
            </a:r>
            <a:r>
              <a:rPr lang="zh-CN" altLang="en-US" dirty="0"/>
              <a:t>阵列文件夹，双击</a:t>
            </a:r>
            <a:r>
              <a:rPr lang="en-US" altLang="zh-CN" dirty="0"/>
              <a:t>test.py</a:t>
            </a:r>
            <a:r>
              <a:rPr lang="zh-CN" altLang="en-US" dirty="0"/>
              <a:t>文件，即可根据代码中的注解进行相应的修改，修改完毕后，</a:t>
            </a:r>
            <a:r>
              <a:rPr lang="en-US" altLang="zh-CN" dirty="0" err="1"/>
              <a:t>Ctrl+S</a:t>
            </a:r>
            <a:r>
              <a:rPr lang="zh-CN" altLang="en-US" dirty="0"/>
              <a:t>进行保存。后续的运行需要在</a:t>
            </a:r>
            <a:r>
              <a:rPr lang="en-US" altLang="zh-CN" dirty="0"/>
              <a:t>desktop</a:t>
            </a:r>
            <a:r>
              <a:rPr lang="zh-CN" altLang="en-US" dirty="0"/>
              <a:t>中进行。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38C55D-E37D-F207-B98D-A89B4D14CCD7}"/>
              </a:ext>
            </a:extLst>
          </p:cNvPr>
          <p:cNvSpPr txBox="1"/>
          <p:nvPr/>
        </p:nvSpPr>
        <p:spPr>
          <a:xfrm>
            <a:off x="0" y="78018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在</a:t>
            </a:r>
            <a:r>
              <a:rPr lang="en-US" altLang="zh-CN" dirty="0"/>
              <a:t>desktop</a:t>
            </a:r>
            <a:r>
              <a:rPr lang="zh-CN" altLang="en-US" dirty="0"/>
              <a:t>中，单击界面正下方的这一图标，进入控制界面后，依次输入</a:t>
            </a:r>
            <a:r>
              <a:rPr lang="en-US" altLang="zh-CN" dirty="0"/>
              <a:t>cd</a:t>
            </a:r>
            <a:r>
              <a:rPr lang="zh-CN" altLang="en-US" dirty="0"/>
              <a:t>、空格、</a:t>
            </a:r>
            <a:r>
              <a:rPr lang="en-US" altLang="zh-CN" dirty="0"/>
              <a:t>/</a:t>
            </a:r>
            <a:r>
              <a:rPr lang="en-US" altLang="zh-CN" dirty="0" err="1"/>
              <a:t>heps</a:t>
            </a:r>
            <a:r>
              <a:rPr lang="en-US" altLang="zh-CN" dirty="0"/>
              <a:t>/beamline/ID33/public</a:t>
            </a:r>
          </a:p>
          <a:p>
            <a:r>
              <a:rPr lang="en-US" altLang="zh-CN" dirty="0"/>
              <a:t>/xrt-1.6.1/examples/</a:t>
            </a:r>
            <a:r>
              <a:rPr lang="en-US" altLang="zh-CN" dirty="0" err="1"/>
              <a:t>withRaycing</a:t>
            </a:r>
            <a:r>
              <a:rPr lang="en-US" altLang="zh-CN" dirty="0"/>
              <a:t>/ </a:t>
            </a:r>
            <a:r>
              <a:rPr lang="en-US" altLang="zh-CN" dirty="0" err="1"/>
              <a:t>array_of_analyzers</a:t>
            </a:r>
            <a:r>
              <a:rPr lang="en-US" altLang="zh-CN" dirty="0"/>
              <a:t> / off-Rowland3×5</a:t>
            </a:r>
            <a:r>
              <a:rPr lang="zh-CN" altLang="en-US" dirty="0"/>
              <a:t>阵列</a:t>
            </a:r>
            <a:r>
              <a:rPr lang="en-US" altLang="zh-CN" dirty="0"/>
              <a:t>/</a:t>
            </a:r>
            <a:r>
              <a:rPr lang="zh-CN" altLang="en-US" dirty="0"/>
              <a:t>，然后回车。输入</a:t>
            </a:r>
            <a:r>
              <a:rPr lang="en-US" altLang="zh-CN" dirty="0"/>
              <a:t>ls</a:t>
            </a:r>
            <a:r>
              <a:rPr lang="zh-CN" altLang="en-US" dirty="0"/>
              <a:t>，继续回车，即可显示该文件夹中的各类文件。</a:t>
            </a:r>
            <a:endParaRPr lang="en-US" altLang="zh-CN" dirty="0"/>
          </a:p>
          <a:p>
            <a:r>
              <a:rPr lang="zh-CN" altLang="en-US" dirty="0"/>
              <a:t>然后输入</a:t>
            </a:r>
            <a:r>
              <a:rPr lang="en-US" altLang="zh-CN" dirty="0"/>
              <a:t>python</a:t>
            </a:r>
            <a:r>
              <a:rPr lang="zh-CN" altLang="en-US" dirty="0"/>
              <a:t>、空格、</a:t>
            </a:r>
            <a:r>
              <a:rPr lang="en-US" altLang="zh-CN" dirty="0"/>
              <a:t>test.py</a:t>
            </a:r>
            <a:r>
              <a:rPr lang="zh-CN" altLang="en-US" dirty="0"/>
              <a:t>，回车运行该代码即可。（拼写文件名称时，可用“</a:t>
            </a:r>
            <a:r>
              <a:rPr lang="en-US" altLang="zh-CN" dirty="0"/>
              <a:t>Tab</a:t>
            </a:r>
            <a:r>
              <a:rPr lang="zh-CN" altLang="en-US" dirty="0"/>
              <a:t>”自动补全）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4386BD-0301-B811-1242-7248A0A35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32" y="2036879"/>
            <a:ext cx="3371429" cy="1571429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981C9845-DFB6-BE47-CCD8-EDFB57F3682D}"/>
              </a:ext>
            </a:extLst>
          </p:cNvPr>
          <p:cNvSpPr/>
          <p:nvPr/>
        </p:nvSpPr>
        <p:spPr>
          <a:xfrm>
            <a:off x="4982817" y="2723398"/>
            <a:ext cx="1353671" cy="4213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EFE752B-ADFF-FDC7-D5D6-CB161F999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043" y="2036879"/>
            <a:ext cx="5859957" cy="3652960"/>
          </a:xfrm>
          <a:prstGeom prst="rect">
            <a:avLst/>
          </a:prstGeom>
        </p:spPr>
      </p:pic>
      <p:sp>
        <p:nvSpPr>
          <p:cNvPr id="9" name="箭头: 下 8">
            <a:extLst>
              <a:ext uri="{FF2B5EF4-FFF2-40B4-BE49-F238E27FC236}">
                <a16:creationId xmlns:a16="http://schemas.microsoft.com/office/drawing/2014/main" id="{BCB2B3E5-AFC4-8179-B941-E970A7531662}"/>
              </a:ext>
            </a:extLst>
          </p:cNvPr>
          <p:cNvSpPr/>
          <p:nvPr/>
        </p:nvSpPr>
        <p:spPr>
          <a:xfrm rot="5400000">
            <a:off x="5832874" y="5034391"/>
            <a:ext cx="511843" cy="4576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9F1DA2-A538-9B62-1B70-59B808B38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409" y="4496791"/>
            <a:ext cx="5859957" cy="138588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E0DFBCD-523A-6E62-761C-3C331D94ED9F}"/>
              </a:ext>
            </a:extLst>
          </p:cNvPr>
          <p:cNvSpPr txBox="1"/>
          <p:nvPr/>
        </p:nvSpPr>
        <p:spPr>
          <a:xfrm>
            <a:off x="118974" y="3863359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做修改前，复制留存原始文件进行备份</a:t>
            </a:r>
          </a:p>
        </p:txBody>
      </p:sp>
    </p:spTree>
    <p:extLst>
      <p:ext uri="{BB962C8B-B14F-4D97-AF65-F5344CB8AC3E}">
        <p14:creationId xmlns:p14="http://schemas.microsoft.com/office/powerpoint/2010/main" val="3864628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D398597-9F9B-DDCA-D272-80094C965C45}"/>
              </a:ext>
            </a:extLst>
          </p:cNvPr>
          <p:cNvSpPr txBox="1"/>
          <p:nvPr/>
        </p:nvSpPr>
        <p:spPr>
          <a:xfrm>
            <a:off x="0" y="0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可先按照之前的操作步骤运行一次“</a:t>
            </a:r>
            <a:r>
              <a:rPr lang="en-US" altLang="zh-CN" dirty="0"/>
              <a:t>polycapillary+off-Rowland3×5</a:t>
            </a:r>
            <a:r>
              <a:rPr lang="zh-CN" altLang="en-US" dirty="0"/>
              <a:t>阵列”文件夹中的</a:t>
            </a:r>
            <a:r>
              <a:rPr lang="en-US" altLang="zh-CN" dirty="0"/>
              <a:t>polycapillary_offRowland_arrayAnalyzers.py</a:t>
            </a:r>
            <a:r>
              <a:rPr lang="zh-CN" altLang="en-US" dirty="0"/>
              <a:t>，可以发现由于多毛细管透镜的影响，只有阵列中心的一块分析晶体起作用，因此简化为多毛细管透镜和含有一块分析晶体的</a:t>
            </a:r>
            <a:r>
              <a:rPr lang="en-US" altLang="zh-CN" dirty="0"/>
              <a:t>off-Rowland</a:t>
            </a:r>
            <a:r>
              <a:rPr lang="zh-CN" altLang="en-US" dirty="0"/>
              <a:t>谱仪，该</a:t>
            </a:r>
            <a:r>
              <a:rPr lang="en-US" altLang="zh-CN" dirty="0"/>
              <a:t>python</a:t>
            </a:r>
            <a:r>
              <a:rPr lang="zh-CN" altLang="en-US" dirty="0"/>
              <a:t>代码位于</a:t>
            </a:r>
            <a:r>
              <a:rPr lang="en-US" altLang="zh-CN" dirty="0"/>
              <a:t>/</a:t>
            </a:r>
            <a:r>
              <a:rPr lang="en-US" altLang="zh-CN" dirty="0" err="1"/>
              <a:t>withRacying</a:t>
            </a:r>
            <a:r>
              <a:rPr lang="en-US" altLang="zh-CN" dirty="0"/>
              <a:t>/combination/</a:t>
            </a:r>
            <a:r>
              <a:rPr lang="zh-CN" altLang="en-US" dirty="0"/>
              <a:t>文件夹。</a:t>
            </a:r>
            <a:endParaRPr lang="en-US" altLang="zh-CN" dirty="0"/>
          </a:p>
          <a:p>
            <a:r>
              <a:rPr lang="zh-CN" altLang="en-US" dirty="0"/>
              <a:t>双击</a:t>
            </a:r>
            <a:r>
              <a:rPr lang="en-US" altLang="zh-CN" dirty="0"/>
              <a:t>combination.py</a:t>
            </a:r>
            <a:r>
              <a:rPr lang="zh-CN" altLang="en-US" dirty="0"/>
              <a:t>文件，即可根据代码中的注解进行相应的修改，修改完毕后，</a:t>
            </a:r>
            <a:r>
              <a:rPr lang="en-US" altLang="zh-CN" dirty="0" err="1"/>
              <a:t>Ctrl+S</a:t>
            </a:r>
            <a:r>
              <a:rPr lang="zh-CN" altLang="en-US" dirty="0"/>
              <a:t>进行保存。后续的运行需要在</a:t>
            </a:r>
            <a:r>
              <a:rPr lang="en-US" altLang="zh-CN" dirty="0"/>
              <a:t>desktop</a:t>
            </a:r>
            <a:r>
              <a:rPr lang="zh-CN" altLang="en-US" dirty="0"/>
              <a:t>中进行。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3BD520-C01E-2BB7-E9C7-0FC2A51B469C}"/>
              </a:ext>
            </a:extLst>
          </p:cNvPr>
          <p:cNvSpPr txBox="1"/>
          <p:nvPr/>
        </p:nvSpPr>
        <p:spPr>
          <a:xfrm>
            <a:off x="0" y="1485281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在</a:t>
            </a:r>
            <a:r>
              <a:rPr lang="en-US" altLang="zh-CN" dirty="0"/>
              <a:t>desktop</a:t>
            </a:r>
            <a:r>
              <a:rPr lang="zh-CN" altLang="en-US" dirty="0"/>
              <a:t>中，单击界面正下方的这一图标，进入控制界面后，依次输入</a:t>
            </a:r>
            <a:r>
              <a:rPr lang="en-US" altLang="zh-CN" dirty="0"/>
              <a:t>cd</a:t>
            </a:r>
            <a:r>
              <a:rPr lang="zh-CN" altLang="en-US" dirty="0"/>
              <a:t>、空格、</a:t>
            </a:r>
            <a:r>
              <a:rPr lang="en-US" altLang="zh-CN" dirty="0"/>
              <a:t>/</a:t>
            </a:r>
            <a:r>
              <a:rPr lang="en-US" altLang="zh-CN" dirty="0" err="1"/>
              <a:t>heps</a:t>
            </a:r>
            <a:r>
              <a:rPr lang="en-US" altLang="zh-CN" dirty="0"/>
              <a:t>/beamline/ID33/public</a:t>
            </a:r>
          </a:p>
          <a:p>
            <a:r>
              <a:rPr lang="en-US" altLang="zh-CN" dirty="0"/>
              <a:t>/xrt-1.6.1/examples/</a:t>
            </a:r>
            <a:r>
              <a:rPr lang="en-US" altLang="zh-CN" dirty="0" err="1"/>
              <a:t>withRaycing</a:t>
            </a:r>
            <a:r>
              <a:rPr lang="en-US" altLang="zh-CN" dirty="0"/>
              <a:t>/ combination/</a:t>
            </a:r>
            <a:r>
              <a:rPr lang="zh-CN" altLang="en-US" dirty="0"/>
              <a:t>，然后回车。输入</a:t>
            </a:r>
            <a:r>
              <a:rPr lang="en-US" altLang="zh-CN" dirty="0"/>
              <a:t>ls</a:t>
            </a:r>
            <a:r>
              <a:rPr lang="zh-CN" altLang="en-US" dirty="0"/>
              <a:t>，继续回车，即可显示该文件夹中的各类文件。</a:t>
            </a:r>
            <a:endParaRPr lang="en-US" altLang="zh-CN" dirty="0"/>
          </a:p>
          <a:p>
            <a:r>
              <a:rPr lang="zh-CN" altLang="en-US" dirty="0"/>
              <a:t>然后输入</a:t>
            </a:r>
            <a:r>
              <a:rPr lang="en-US" altLang="zh-CN" dirty="0"/>
              <a:t>python</a:t>
            </a:r>
            <a:r>
              <a:rPr lang="zh-CN" altLang="en-US" dirty="0"/>
              <a:t>、空格、</a:t>
            </a:r>
            <a:r>
              <a:rPr lang="en-US" altLang="zh-CN" dirty="0"/>
              <a:t>combination.py</a:t>
            </a:r>
            <a:r>
              <a:rPr lang="zh-CN" altLang="en-US" dirty="0"/>
              <a:t>，回车运行该代码即可。（拼写文件名称时，可用“</a:t>
            </a:r>
            <a:r>
              <a:rPr lang="en-US" altLang="zh-CN" dirty="0"/>
              <a:t>Tab</a:t>
            </a:r>
            <a:r>
              <a:rPr lang="zh-CN" altLang="en-US" dirty="0"/>
              <a:t>”自动补全）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31295F-CBAC-3FDB-4B8E-35D68D982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32" y="2781384"/>
            <a:ext cx="3371429" cy="1571429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B615125A-C96F-8C4A-DB40-6B7F3938919D}"/>
              </a:ext>
            </a:extLst>
          </p:cNvPr>
          <p:cNvSpPr/>
          <p:nvPr/>
        </p:nvSpPr>
        <p:spPr>
          <a:xfrm>
            <a:off x="4982817" y="3467903"/>
            <a:ext cx="1353671" cy="4213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401FAD-B439-49C6-C53E-909524981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043" y="2781384"/>
            <a:ext cx="5859957" cy="3652960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02DD6D2E-40BB-3565-26EE-926F9EE9EF62}"/>
              </a:ext>
            </a:extLst>
          </p:cNvPr>
          <p:cNvSpPr/>
          <p:nvPr/>
        </p:nvSpPr>
        <p:spPr>
          <a:xfrm rot="5400000">
            <a:off x="5832874" y="5778896"/>
            <a:ext cx="511843" cy="4576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BB30011-53BE-76BE-C267-B01052762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11" y="5371724"/>
            <a:ext cx="5608945" cy="106262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195C7E-17E8-2DF2-F9C7-E557B68FA976}"/>
              </a:ext>
            </a:extLst>
          </p:cNvPr>
          <p:cNvSpPr txBox="1"/>
          <p:nvPr/>
        </p:nvSpPr>
        <p:spPr>
          <a:xfrm>
            <a:off x="161613" y="4607864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做修改前，复制留存原始文件进行备份</a:t>
            </a:r>
          </a:p>
        </p:txBody>
      </p:sp>
    </p:spTree>
    <p:extLst>
      <p:ext uri="{BB962C8B-B14F-4D97-AF65-F5344CB8AC3E}">
        <p14:creationId xmlns:p14="http://schemas.microsoft.com/office/powerpoint/2010/main" val="310957060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613</Words>
  <Application>Microsoft Office PowerPoint</Application>
  <PresentationFormat>宽屏</PresentationFormat>
  <Paragraphs>21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席帅彬</dc:creator>
  <cp:lastModifiedBy>帅彬 席</cp:lastModifiedBy>
  <cp:revision>24</cp:revision>
  <dcterms:created xsi:type="dcterms:W3CDTF">2023-08-09T12:44:00Z</dcterms:created>
  <dcterms:modified xsi:type="dcterms:W3CDTF">2026-03-09T01:18:30Z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